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Archivo Black" charset="1" panose="020B0A03020202020B04"/>
      <p:regular r:id="rId11"/>
    </p:embeddedFont>
    <p:embeddedFont>
      <p:font typeface="Garet" charset="1" panose="00000000000000000000"/>
      <p:regular r:id="rId12"/>
    </p:embeddedFont>
    <p:embeddedFont>
      <p:font typeface="Garet Bold" charset="1" panose="00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github.com/hongnhung991022-svg/SQL_Exercise/tree/main/HR_data_query" TargetMode="External" Type="http://schemas.openxmlformats.org/officeDocument/2006/relationships/hyperlink"/><Relationship Id="rId4" Target="https://github.com/hongnhung991022-svg/SQL_Exercise/tree/main/HR_data_query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9036" r="-28981" b="-23969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2722611" y="6867565"/>
            <a:ext cx="12806688" cy="1264685"/>
            <a:chOff x="0" y="0"/>
            <a:chExt cx="3372955" cy="3330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72955" cy="333086"/>
            </a:xfrm>
            <a:custGeom>
              <a:avLst/>
              <a:gdLst/>
              <a:ahLst/>
              <a:cxnLst/>
              <a:rect r="r" b="b" t="t" l="l"/>
              <a:pathLst>
                <a:path h="333086" w="3372955">
                  <a:moveTo>
                    <a:pt x="0" y="0"/>
                  </a:moveTo>
                  <a:lnTo>
                    <a:pt x="3372955" y="0"/>
                  </a:lnTo>
                  <a:lnTo>
                    <a:pt x="3372955" y="333086"/>
                  </a:lnTo>
                  <a:lnTo>
                    <a:pt x="0" y="333086"/>
                  </a:lnTo>
                  <a:close/>
                </a:path>
              </a:pathLst>
            </a:custGeom>
            <a:gradFill rotWithShape="true">
              <a:gsLst>
                <a:gs pos="0">
                  <a:srgbClr val="0085FF">
                    <a:alpha val="0"/>
                  </a:srgbClr>
                </a:gs>
                <a:gs pos="50000">
                  <a:srgbClr val="0085FF">
                    <a:alpha val="28500"/>
                  </a:srgbClr>
                </a:gs>
                <a:gs pos="100000">
                  <a:srgbClr val="0085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372955" cy="371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562600" y="2411925"/>
            <a:ext cx="9162799" cy="2414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73"/>
              </a:lnSpc>
            </a:pPr>
            <a:r>
              <a:rPr lang="en-US" sz="17571">
                <a:solidFill>
                  <a:srgbClr val="EFC9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RETAIL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00255" y="4456140"/>
            <a:ext cx="13887490" cy="2293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21"/>
              </a:lnSpc>
            </a:pPr>
            <a:r>
              <a:rPr lang="en-US" sz="1665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FORECAST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21525" y="7052233"/>
            <a:ext cx="9644949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  <a:hlinkClick r:id="rId3" tooltip="https://github.com/hongnhung991022-svg/SQL_Exercise/tree/main/HR_data_query"/>
              </a:rPr>
              <a:t>ANALYSE STRATÉGIQUE DES VENTES</a:t>
            </a: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  <a:hlinkClick r:id="rId4" tooltip="https://github.com/hongnhung991022-svg/SQL_Exercise/tree/main/HR_data_query"/>
              </a:rPr>
              <a:t> ET DIAGNOSTIC DE PERFORMANCE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966475" y="981075"/>
            <a:ext cx="329282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49"/>
              </a:lnSpc>
            </a:pP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Presentation 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8839200"/>
            <a:ext cx="4736622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By Thi Hong Nhung Nguyen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9036" r="-28981" b="-2396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23950"/>
            <a:ext cx="7380899" cy="872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5"/>
              </a:lnSpc>
            </a:pPr>
            <a:r>
              <a:rPr lang="en-US" sz="63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LE PROJET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144761"/>
            <a:ext cx="16230600" cy="3841628"/>
            <a:chOff x="0" y="0"/>
            <a:chExt cx="5383971" cy="12743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83971" cy="1274335"/>
            </a:xfrm>
            <a:custGeom>
              <a:avLst/>
              <a:gdLst/>
              <a:ahLst/>
              <a:cxnLst/>
              <a:rect r="r" b="b" t="t" l="l"/>
              <a:pathLst>
                <a:path h="1274335" w="5383971">
                  <a:moveTo>
                    <a:pt x="9540" y="0"/>
                  </a:moveTo>
                  <a:lnTo>
                    <a:pt x="5374431" y="0"/>
                  </a:lnTo>
                  <a:cubicBezTo>
                    <a:pt x="5379700" y="0"/>
                    <a:pt x="5383971" y="4271"/>
                    <a:pt x="5383971" y="9540"/>
                  </a:cubicBezTo>
                  <a:lnTo>
                    <a:pt x="5383971" y="1264795"/>
                  </a:lnTo>
                  <a:cubicBezTo>
                    <a:pt x="5383971" y="1270063"/>
                    <a:pt x="5379700" y="1274335"/>
                    <a:pt x="5374431" y="1274335"/>
                  </a:cubicBezTo>
                  <a:lnTo>
                    <a:pt x="9540" y="1274335"/>
                  </a:lnTo>
                  <a:cubicBezTo>
                    <a:pt x="4271" y="1274335"/>
                    <a:pt x="0" y="1270063"/>
                    <a:pt x="0" y="1264795"/>
                  </a:cubicBezTo>
                  <a:lnTo>
                    <a:pt x="0" y="9540"/>
                  </a:lnTo>
                  <a:cubicBezTo>
                    <a:pt x="0" y="4271"/>
                    <a:pt x="4271" y="0"/>
                    <a:pt x="9540" y="0"/>
                  </a:cubicBezTo>
                  <a:close/>
                </a:path>
              </a:pathLst>
            </a:custGeom>
            <a:solidFill>
              <a:srgbClr val="FFD6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383971" cy="1312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6186414"/>
            <a:ext cx="16230600" cy="3505025"/>
            <a:chOff x="0" y="0"/>
            <a:chExt cx="5383971" cy="11626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83971" cy="1162677"/>
            </a:xfrm>
            <a:custGeom>
              <a:avLst/>
              <a:gdLst/>
              <a:ahLst/>
              <a:cxnLst/>
              <a:rect r="r" b="b" t="t" l="l"/>
              <a:pathLst>
                <a:path h="1162677" w="5383971">
                  <a:moveTo>
                    <a:pt x="9540" y="0"/>
                  </a:moveTo>
                  <a:lnTo>
                    <a:pt x="5374431" y="0"/>
                  </a:lnTo>
                  <a:cubicBezTo>
                    <a:pt x="5379700" y="0"/>
                    <a:pt x="5383971" y="4271"/>
                    <a:pt x="5383971" y="9540"/>
                  </a:cubicBezTo>
                  <a:lnTo>
                    <a:pt x="5383971" y="1153137"/>
                  </a:lnTo>
                  <a:cubicBezTo>
                    <a:pt x="5383971" y="1158406"/>
                    <a:pt x="5379700" y="1162677"/>
                    <a:pt x="5374431" y="1162677"/>
                  </a:cubicBezTo>
                  <a:lnTo>
                    <a:pt x="9540" y="1162677"/>
                  </a:lnTo>
                  <a:cubicBezTo>
                    <a:pt x="4271" y="1162677"/>
                    <a:pt x="0" y="1158406"/>
                    <a:pt x="0" y="1153137"/>
                  </a:cubicBezTo>
                  <a:lnTo>
                    <a:pt x="0" y="9540"/>
                  </a:lnTo>
                  <a:cubicBezTo>
                    <a:pt x="0" y="4271"/>
                    <a:pt x="4271" y="0"/>
                    <a:pt x="9540" y="0"/>
                  </a:cubicBezTo>
                  <a:close/>
                </a:path>
              </a:pathLst>
            </a:custGeom>
            <a:ln w="38100" cap="sq">
              <a:solidFill>
                <a:srgbClr val="FFD6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383971" cy="12007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232032" y="2337800"/>
            <a:ext cx="8428916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000" b="true">
                <a:solidFill>
                  <a:srgbClr val="061C44"/>
                </a:solidFill>
                <a:latin typeface="Garet Bold"/>
                <a:ea typeface="Garet Bold"/>
                <a:cs typeface="Garet Bold"/>
                <a:sym typeface="Garet Bold"/>
              </a:rPr>
              <a:t>01.CONTEXTE &amp; PROBLÉMATIQUE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2032" y="6329289"/>
            <a:ext cx="7201689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000" b="true">
                <a:solidFill>
                  <a:srgbClr val="FFD600"/>
                </a:solidFill>
                <a:latin typeface="Garet Bold"/>
                <a:ea typeface="Garet Bold"/>
                <a:cs typeface="Garet Bold"/>
                <a:sym typeface="Garet Bold"/>
              </a:rPr>
              <a:t>02.</a:t>
            </a:r>
            <a:r>
              <a:rPr lang="en-US" b="true" sz="3000">
                <a:solidFill>
                  <a:srgbClr val="FFD600"/>
                </a:solidFill>
                <a:latin typeface="Garet Bold"/>
                <a:ea typeface="Garet Bold"/>
                <a:cs typeface="Garet Bold"/>
                <a:sym typeface="Garet Bold"/>
              </a:rPr>
              <a:t>OBJECTIF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2032" y="2948807"/>
            <a:ext cx="15723298" cy="2767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2" indent="-194311" lvl="1">
              <a:lnSpc>
                <a:spcPts val="3168"/>
              </a:lnSpc>
              <a:buFont typeface="Arial"/>
              <a:buChar char="•"/>
            </a:pPr>
            <a:r>
              <a:rPr lang="en-US" sz="1800">
                <a:solidFill>
                  <a:srgbClr val="061C44"/>
                </a:solidFill>
                <a:latin typeface="Garet"/>
                <a:ea typeface="Garet"/>
                <a:cs typeface="Garet"/>
                <a:sym typeface="Garet"/>
              </a:rPr>
              <a:t>Dans un c</a:t>
            </a:r>
            <a:r>
              <a:rPr lang="en-US" sz="1800">
                <a:solidFill>
                  <a:srgbClr val="061C44"/>
                </a:solidFill>
                <a:latin typeface="Garet"/>
                <a:ea typeface="Garet"/>
                <a:cs typeface="Garet"/>
                <a:sym typeface="Garet"/>
              </a:rPr>
              <a:t>ontexte de crise mondiale provoquée par la pandémie de COVID-19 et ses répercussions en 2020, l'entreprise a subi une chu</a:t>
            </a:r>
            <a:r>
              <a:rPr lang="en-US" sz="1800">
                <a:solidFill>
                  <a:srgbClr val="061C44"/>
                </a:solidFill>
                <a:latin typeface="Garet"/>
                <a:ea typeface="Garet"/>
                <a:cs typeface="Garet"/>
                <a:sym typeface="Garet"/>
              </a:rPr>
              <a:t>te drastique de son chiffre d'affaires. Il est essentiel de comprendre l'origine de cette perte pour sauver la rentabilité.</a:t>
            </a:r>
          </a:p>
          <a:p>
            <a:pPr algn="just" marL="388622" indent="-194311" lvl="1">
              <a:lnSpc>
                <a:spcPts val="3168"/>
              </a:lnSpc>
              <a:buFont typeface="Arial"/>
              <a:buChar char="•"/>
            </a:pPr>
            <a:r>
              <a:rPr lang="en-US" sz="1800">
                <a:solidFill>
                  <a:srgbClr val="061C44"/>
                </a:solidFill>
                <a:latin typeface="Garet"/>
                <a:ea typeface="Garet"/>
                <a:cs typeface="Garet"/>
                <a:sym typeface="Garet"/>
              </a:rPr>
              <a:t>Comment expliquer une baisse de 49 % du CA en un an ?</a:t>
            </a:r>
          </a:p>
          <a:p>
            <a:pPr algn="just" marL="388622" indent="-194311" lvl="1">
              <a:lnSpc>
                <a:spcPts val="3168"/>
              </a:lnSpc>
              <a:buFont typeface="Arial"/>
              <a:buChar char="•"/>
            </a:pPr>
            <a:r>
              <a:rPr lang="en-US" sz="1800">
                <a:solidFill>
                  <a:srgbClr val="061C44"/>
                </a:solidFill>
                <a:latin typeface="Garet"/>
                <a:ea typeface="Garet"/>
                <a:cs typeface="Garet"/>
                <a:sym typeface="Garet"/>
              </a:rPr>
              <a:t>Plus précisément :</a:t>
            </a:r>
          </a:p>
          <a:p>
            <a:pPr algn="just" marL="777243" indent="-259081" lvl="2">
              <a:lnSpc>
                <a:spcPts val="3168"/>
              </a:lnSpc>
              <a:buFont typeface="Arial"/>
              <a:buChar char="⚬"/>
            </a:pPr>
            <a:r>
              <a:rPr lang="en-US" sz="1800">
                <a:solidFill>
                  <a:srgbClr val="061C44"/>
                </a:solidFill>
                <a:latin typeface="Garet"/>
                <a:ea typeface="Garet"/>
                <a:cs typeface="Garet"/>
                <a:sym typeface="Garet"/>
              </a:rPr>
              <a:t>Est-ce un problème de prix, de produit ou de volume de trafic ?</a:t>
            </a:r>
          </a:p>
          <a:p>
            <a:pPr algn="just" marL="777243" indent="-259081" lvl="2">
              <a:lnSpc>
                <a:spcPts val="3168"/>
              </a:lnSpc>
              <a:buFont typeface="Arial"/>
              <a:buChar char="⚬"/>
            </a:pPr>
            <a:r>
              <a:rPr lang="en-US" sz="1800">
                <a:solidFill>
                  <a:srgbClr val="061C44"/>
                </a:solidFill>
                <a:latin typeface="Garet"/>
                <a:ea typeface="Garet"/>
                <a:cs typeface="Garet"/>
                <a:sym typeface="Garet"/>
              </a:rPr>
              <a:t>Quels marchés géographiques sont les plus impactés ?</a:t>
            </a:r>
          </a:p>
          <a:p>
            <a:pPr algn="just" marL="777243" indent="-259081" lvl="2">
              <a:lnSpc>
                <a:spcPts val="3168"/>
              </a:lnSpc>
              <a:buFont typeface="Arial"/>
              <a:buChar char="⚬"/>
            </a:pPr>
            <a:r>
              <a:rPr lang="en-US" sz="1800">
                <a:solidFill>
                  <a:srgbClr val="061C44"/>
                </a:solidFill>
                <a:latin typeface="Garet"/>
                <a:ea typeface="Garet"/>
                <a:cs typeface="Garet"/>
                <a:sym typeface="Garet"/>
              </a:rPr>
              <a:t>Quelle est la dynamique entre les nouveaux clients et les clients fidèles 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2032" y="6889359"/>
            <a:ext cx="8679975" cy="1967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18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Identifier les causes profondes de la chute des ventes afin de :</a:t>
            </a:r>
          </a:p>
          <a:p>
            <a:pPr algn="l" marL="388622" indent="-194311" lvl="1">
              <a:lnSpc>
                <a:spcPts val="3168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Cibler les segments clients à sauvegarder en priorité.</a:t>
            </a:r>
          </a:p>
          <a:p>
            <a:pPr algn="l" marL="388622" indent="-194311" lvl="1">
              <a:lnSpc>
                <a:spcPts val="3168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Réallouer le budget marketing de manière efficace.</a:t>
            </a:r>
          </a:p>
          <a:p>
            <a:pPr algn="l" marL="388622" indent="-194311" lvl="1">
              <a:lnSpc>
                <a:spcPts val="3168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Optimiser la gestion des stocks pour les années à venir.</a:t>
            </a:r>
          </a:p>
          <a:p>
            <a:pPr algn="l">
              <a:lnSpc>
                <a:spcPts val="3168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9036" r="-28981" b="-2396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23950"/>
            <a:ext cx="16230600" cy="1711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5"/>
              </a:lnSpc>
            </a:pPr>
            <a:r>
              <a:rPr lang="en-US" sz="63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VUE GLOBALE &amp; INDICATEURS CLÉS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42896" y="3012168"/>
            <a:ext cx="6123651" cy="6667275"/>
            <a:chOff x="0" y="0"/>
            <a:chExt cx="2031321" cy="22116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31321" cy="2211651"/>
            </a:xfrm>
            <a:custGeom>
              <a:avLst/>
              <a:gdLst/>
              <a:ahLst/>
              <a:cxnLst/>
              <a:rect r="r" b="b" t="t" l="l"/>
              <a:pathLst>
                <a:path h="2211651" w="2031321">
                  <a:moveTo>
                    <a:pt x="25285" y="0"/>
                  </a:moveTo>
                  <a:lnTo>
                    <a:pt x="2006036" y="0"/>
                  </a:lnTo>
                  <a:cubicBezTo>
                    <a:pt x="2020000" y="0"/>
                    <a:pt x="2031321" y="11321"/>
                    <a:pt x="2031321" y="25285"/>
                  </a:cubicBezTo>
                  <a:lnTo>
                    <a:pt x="2031321" y="2186365"/>
                  </a:lnTo>
                  <a:cubicBezTo>
                    <a:pt x="2031321" y="2193071"/>
                    <a:pt x="2028657" y="2199503"/>
                    <a:pt x="2023915" y="2204245"/>
                  </a:cubicBezTo>
                  <a:cubicBezTo>
                    <a:pt x="2019173" y="2208987"/>
                    <a:pt x="2012742" y="2211651"/>
                    <a:pt x="2006036" y="2211651"/>
                  </a:cubicBezTo>
                  <a:lnTo>
                    <a:pt x="25285" y="2211651"/>
                  </a:lnTo>
                  <a:cubicBezTo>
                    <a:pt x="11321" y="2211651"/>
                    <a:pt x="0" y="2200330"/>
                    <a:pt x="0" y="2186365"/>
                  </a:cubicBezTo>
                  <a:lnTo>
                    <a:pt x="0" y="25285"/>
                  </a:lnTo>
                  <a:cubicBezTo>
                    <a:pt x="0" y="18579"/>
                    <a:pt x="2664" y="12148"/>
                    <a:pt x="7406" y="7406"/>
                  </a:cubicBezTo>
                  <a:cubicBezTo>
                    <a:pt x="12148" y="2664"/>
                    <a:pt x="18579" y="0"/>
                    <a:pt x="25285" y="0"/>
                  </a:cubicBezTo>
                  <a:close/>
                </a:path>
              </a:pathLst>
            </a:custGeom>
            <a:solidFill>
              <a:srgbClr val="FFD6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031321" cy="22497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1132" y="3216838"/>
            <a:ext cx="5487180" cy="102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000" b="true">
                <a:solidFill>
                  <a:srgbClr val="061C44"/>
                </a:solidFill>
                <a:latin typeface="Garet Bold"/>
                <a:ea typeface="Garet Bold"/>
                <a:cs typeface="Garet Bold"/>
                <a:sym typeface="Garet Bold"/>
              </a:rPr>
              <a:t>Principaux insights extraits du tableau de bord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6229" y="4343081"/>
            <a:ext cx="5487180" cy="4767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2" indent="-194311" lvl="1">
              <a:lnSpc>
                <a:spcPts val="3168"/>
              </a:lnSpc>
              <a:buFont typeface="Arial"/>
              <a:buChar char="•"/>
            </a:pPr>
            <a:r>
              <a:rPr lang="en-US" sz="1800">
                <a:solidFill>
                  <a:srgbClr val="061C44"/>
                </a:solidFill>
                <a:latin typeface="Garet"/>
                <a:ea typeface="Garet"/>
                <a:cs typeface="Garet"/>
                <a:sym typeface="Garet"/>
              </a:rPr>
              <a:t>Chute brutale du CA mondial à </a:t>
            </a:r>
            <a:r>
              <a:rPr lang="en-US" b="true" sz="1800">
                <a:solidFill>
                  <a:srgbClr val="061C44"/>
                </a:solidFill>
                <a:latin typeface="Garet Bold"/>
                <a:ea typeface="Garet Bold"/>
                <a:cs typeface="Garet Bold"/>
                <a:sym typeface="Garet Bold"/>
              </a:rPr>
              <a:t>$9.29M (-49.11%) </a:t>
            </a:r>
            <a:r>
              <a:rPr lang="en-US" sz="1800">
                <a:solidFill>
                  <a:srgbClr val="061C44"/>
                </a:solidFill>
                <a:latin typeface="Garet"/>
                <a:ea typeface="Garet"/>
                <a:cs typeface="Garet"/>
                <a:sym typeface="Garet"/>
              </a:rPr>
              <a:t>et du volume de commandes (-48.97%).</a:t>
            </a:r>
          </a:p>
          <a:p>
            <a:pPr algn="just" marL="388622" indent="-194311" lvl="1">
              <a:lnSpc>
                <a:spcPts val="3168"/>
              </a:lnSpc>
              <a:buFont typeface="Arial"/>
              <a:buChar char="•"/>
            </a:pPr>
            <a:r>
              <a:rPr lang="en-US" sz="1800">
                <a:solidFill>
                  <a:srgbClr val="061C44"/>
                </a:solidFill>
                <a:latin typeface="Garet"/>
                <a:ea typeface="Garet"/>
                <a:cs typeface="Garet"/>
                <a:sym typeface="Garet"/>
              </a:rPr>
              <a:t>La structure des prix reste solide : Le panier moyen (AOV) est stable à </a:t>
            </a:r>
            <a:r>
              <a:rPr lang="en-US" b="true" sz="1800">
                <a:solidFill>
                  <a:srgbClr val="061C44"/>
                </a:solidFill>
                <a:latin typeface="Garet Bold"/>
                <a:ea typeface="Garet Bold"/>
                <a:cs typeface="Garet Bold"/>
                <a:sym typeface="Garet Bold"/>
              </a:rPr>
              <a:t>$2.01K,</a:t>
            </a:r>
            <a:r>
              <a:rPr lang="en-US" sz="1800">
                <a:solidFill>
                  <a:srgbClr val="061C44"/>
                </a:solidFill>
                <a:latin typeface="Garet"/>
                <a:ea typeface="Garet"/>
                <a:cs typeface="Garet"/>
                <a:sym typeface="Garet"/>
              </a:rPr>
              <a:t> et la marge bénéficiaire (Profit Margin) se maintient à </a:t>
            </a:r>
            <a:r>
              <a:rPr lang="en-US" b="true" sz="1800">
                <a:solidFill>
                  <a:srgbClr val="061C44"/>
                </a:solidFill>
                <a:latin typeface="Garet Bold"/>
                <a:ea typeface="Garet Bold"/>
                <a:cs typeface="Garet Bold"/>
                <a:sym typeface="Garet Bold"/>
              </a:rPr>
              <a:t>58.61%</a:t>
            </a:r>
            <a:r>
              <a:rPr lang="en-US" sz="1800">
                <a:solidFill>
                  <a:srgbClr val="061C44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  <a:p>
            <a:pPr algn="just" marL="388622" indent="-194311" lvl="1">
              <a:lnSpc>
                <a:spcPts val="3168"/>
              </a:lnSpc>
              <a:buFont typeface="Arial"/>
              <a:buChar char="•"/>
            </a:pPr>
            <a:r>
              <a:rPr lang="en-US" sz="1800">
                <a:solidFill>
                  <a:srgbClr val="061C44"/>
                </a:solidFill>
                <a:latin typeface="Garet"/>
                <a:ea typeface="Garet"/>
                <a:cs typeface="Garet"/>
                <a:sym typeface="Garet"/>
              </a:rPr>
              <a:t>Conclusion partielle : Le problème provient exclusivement d'un effondrement du volume de trafic physique (In-store), non d'une dégradation de la valeur perçue des produits.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655375" y="3012168"/>
            <a:ext cx="11494651" cy="6638386"/>
          </a:xfrm>
          <a:custGeom>
            <a:avLst/>
            <a:gdLst/>
            <a:ahLst/>
            <a:cxnLst/>
            <a:rect r="r" b="b" t="t" l="l"/>
            <a:pathLst>
              <a:path h="6638386" w="11494651">
                <a:moveTo>
                  <a:pt x="0" y="0"/>
                </a:moveTo>
                <a:lnTo>
                  <a:pt x="11494651" y="0"/>
                </a:lnTo>
                <a:lnTo>
                  <a:pt x="11494651" y="6638386"/>
                </a:lnTo>
                <a:lnTo>
                  <a:pt x="0" y="6638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22" t="-643" r="-1022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9036" r="-28981" b="-2396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21761" y="3186591"/>
            <a:ext cx="7411449" cy="6793607"/>
            <a:chOff x="0" y="0"/>
            <a:chExt cx="2458506" cy="22535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58506" cy="2253557"/>
            </a:xfrm>
            <a:custGeom>
              <a:avLst/>
              <a:gdLst/>
              <a:ahLst/>
              <a:cxnLst/>
              <a:rect r="r" b="b" t="t" l="l"/>
              <a:pathLst>
                <a:path h="2253557" w="2458506">
                  <a:moveTo>
                    <a:pt x="20892" y="0"/>
                  </a:moveTo>
                  <a:lnTo>
                    <a:pt x="2437614" y="0"/>
                  </a:lnTo>
                  <a:cubicBezTo>
                    <a:pt x="2449152" y="0"/>
                    <a:pt x="2458506" y="9354"/>
                    <a:pt x="2458506" y="20892"/>
                  </a:cubicBezTo>
                  <a:lnTo>
                    <a:pt x="2458506" y="2232665"/>
                  </a:lnTo>
                  <a:cubicBezTo>
                    <a:pt x="2458506" y="2238206"/>
                    <a:pt x="2456305" y="2243520"/>
                    <a:pt x="2452387" y="2247438"/>
                  </a:cubicBezTo>
                  <a:cubicBezTo>
                    <a:pt x="2448469" y="2251356"/>
                    <a:pt x="2443155" y="2253557"/>
                    <a:pt x="2437614" y="2253557"/>
                  </a:cubicBezTo>
                  <a:lnTo>
                    <a:pt x="20892" y="2253557"/>
                  </a:lnTo>
                  <a:cubicBezTo>
                    <a:pt x="9354" y="2253557"/>
                    <a:pt x="0" y="2244204"/>
                    <a:pt x="0" y="2232665"/>
                  </a:cubicBezTo>
                  <a:lnTo>
                    <a:pt x="0" y="20892"/>
                  </a:lnTo>
                  <a:cubicBezTo>
                    <a:pt x="0" y="9354"/>
                    <a:pt x="9354" y="0"/>
                    <a:pt x="20892" y="0"/>
                  </a:cubicBezTo>
                  <a:close/>
                </a:path>
              </a:pathLst>
            </a:custGeom>
            <a:solidFill>
              <a:srgbClr val="FFD6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58506" cy="2291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733818" y="473958"/>
            <a:ext cx="8802853" cy="4621459"/>
          </a:xfrm>
          <a:custGeom>
            <a:avLst/>
            <a:gdLst/>
            <a:ahLst/>
            <a:cxnLst/>
            <a:rect r="r" b="b" t="t" l="l"/>
            <a:pathLst>
              <a:path h="4621459" w="8802853">
                <a:moveTo>
                  <a:pt x="0" y="0"/>
                </a:moveTo>
                <a:lnTo>
                  <a:pt x="8802853" y="0"/>
                </a:lnTo>
                <a:lnTo>
                  <a:pt x="8802853" y="4621459"/>
                </a:lnTo>
                <a:lnTo>
                  <a:pt x="0" y="46214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368" r="0" b="-704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33818" y="5358739"/>
            <a:ext cx="8802853" cy="4621459"/>
          </a:xfrm>
          <a:custGeom>
            <a:avLst/>
            <a:gdLst/>
            <a:ahLst/>
            <a:cxnLst/>
            <a:rect r="r" b="b" t="t" l="l"/>
            <a:pathLst>
              <a:path h="4621459" w="8802853">
                <a:moveTo>
                  <a:pt x="0" y="0"/>
                </a:moveTo>
                <a:lnTo>
                  <a:pt x="8802853" y="0"/>
                </a:lnTo>
                <a:lnTo>
                  <a:pt x="8802853" y="4621459"/>
                </a:lnTo>
                <a:lnTo>
                  <a:pt x="0" y="46214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355" r="0" b="-574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569208"/>
            <a:ext cx="6397570" cy="2549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5"/>
              </a:lnSpc>
            </a:pPr>
            <a:r>
              <a:rPr lang="en-US" sz="63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ANALYSE DES FACTEURS DE BAISSE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325061"/>
            <a:ext cx="6353458" cy="102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000" b="true">
                <a:solidFill>
                  <a:srgbClr val="061C44"/>
                </a:solidFill>
                <a:latin typeface="Garet Bold"/>
                <a:ea typeface="Garet Bold"/>
                <a:cs typeface="Garet Bold"/>
                <a:sym typeface="Garet Bold"/>
              </a:rPr>
              <a:t>Dynamique des marchés et des produits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6488" y="4513781"/>
            <a:ext cx="6861994" cy="5167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3168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Le moteur d'acquisition est à l'arrêt :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Baisse alarmante des nouveaux clients (-66.6%), le chiffre d'affaires est soutenu artificiellement par les clients existants (Returning Customers).</a:t>
            </a:r>
          </a:p>
          <a:p>
            <a:pPr algn="l" marL="388622" indent="-194311" lvl="1">
              <a:lnSpc>
                <a:spcPts val="3168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Marchés "Zone Rouge" 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L'Allemagne (-59%) et l'Italie (-53%) subissent les pertes les plus sévères sur tous les fronts.</a:t>
            </a:r>
          </a:p>
          <a:p>
            <a:pPr algn="l" marL="388622" indent="-194311" lvl="1">
              <a:lnSpc>
                <a:spcPts val="3168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Marché "Résiliant"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: La France limite la casse (-32% de CA) en maintenant un taux de rétention positif (+3.57%).</a:t>
            </a:r>
          </a:p>
          <a:p>
            <a:pPr algn="l" marL="388622" indent="-194311" lvl="1">
              <a:lnSpc>
                <a:spcPts val="3168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Produits </a:t>
            </a:r>
            <a:r>
              <a:rPr lang="en-US" sz="1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Les piliers (Computers, Cell phones) chutent lourdement (-45%), tandis que les produits secondaires (Audio, Home Appliances) s'effondrent à -60%.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9036" r="-28981" b="-2396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32461" y="2862000"/>
            <a:ext cx="5032786" cy="7057910"/>
            <a:chOff x="0" y="0"/>
            <a:chExt cx="1403481" cy="19682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03481" cy="1968223"/>
            </a:xfrm>
            <a:custGeom>
              <a:avLst/>
              <a:gdLst/>
              <a:ahLst/>
              <a:cxnLst/>
              <a:rect r="r" b="b" t="t" l="l"/>
              <a:pathLst>
                <a:path h="1968223" w="1403481">
                  <a:moveTo>
                    <a:pt x="30766" y="0"/>
                  </a:moveTo>
                  <a:lnTo>
                    <a:pt x="1372715" y="0"/>
                  </a:lnTo>
                  <a:cubicBezTo>
                    <a:pt x="1380875" y="0"/>
                    <a:pt x="1388701" y="3241"/>
                    <a:pt x="1394470" y="9011"/>
                  </a:cubicBezTo>
                  <a:cubicBezTo>
                    <a:pt x="1400240" y="14781"/>
                    <a:pt x="1403481" y="22606"/>
                    <a:pt x="1403481" y="30766"/>
                  </a:cubicBezTo>
                  <a:lnTo>
                    <a:pt x="1403481" y="1937457"/>
                  </a:lnTo>
                  <a:cubicBezTo>
                    <a:pt x="1403481" y="1945617"/>
                    <a:pt x="1400240" y="1953442"/>
                    <a:pt x="1394470" y="1959212"/>
                  </a:cubicBezTo>
                  <a:cubicBezTo>
                    <a:pt x="1388701" y="1964982"/>
                    <a:pt x="1380875" y="1968223"/>
                    <a:pt x="1372715" y="1968223"/>
                  </a:cubicBezTo>
                  <a:lnTo>
                    <a:pt x="30766" y="1968223"/>
                  </a:lnTo>
                  <a:cubicBezTo>
                    <a:pt x="22606" y="1968223"/>
                    <a:pt x="14781" y="1964982"/>
                    <a:pt x="9011" y="1959212"/>
                  </a:cubicBezTo>
                  <a:cubicBezTo>
                    <a:pt x="3241" y="1953442"/>
                    <a:pt x="0" y="1945617"/>
                    <a:pt x="0" y="1937457"/>
                  </a:cubicBezTo>
                  <a:lnTo>
                    <a:pt x="0" y="30766"/>
                  </a:lnTo>
                  <a:cubicBezTo>
                    <a:pt x="0" y="22606"/>
                    <a:pt x="3241" y="14781"/>
                    <a:pt x="9011" y="9011"/>
                  </a:cubicBezTo>
                  <a:cubicBezTo>
                    <a:pt x="14781" y="3241"/>
                    <a:pt x="22606" y="0"/>
                    <a:pt x="30766" y="0"/>
                  </a:cubicBezTo>
                  <a:close/>
                </a:path>
              </a:pathLst>
            </a:custGeom>
            <a:solidFill>
              <a:srgbClr val="FFD6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403481" cy="2006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123950"/>
            <a:ext cx="16800632" cy="872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5"/>
              </a:lnSpc>
            </a:pPr>
            <a:r>
              <a:rPr lang="en-US" sz="63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CONCLUSION &amp; RECOMMANDATIONS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0036" y="3236468"/>
            <a:ext cx="3750113" cy="460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0"/>
              </a:lnSpc>
            </a:pPr>
            <a:r>
              <a:rPr lang="en-US" b="true" sz="2768">
                <a:solidFill>
                  <a:srgbClr val="061C44"/>
                </a:solidFill>
                <a:latin typeface="Garet Bold"/>
                <a:ea typeface="Garet Bold"/>
                <a:cs typeface="Garet Bold"/>
                <a:sym typeface="Garet Bold"/>
              </a:rPr>
              <a:t>Principaux insights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4710" y="3880294"/>
            <a:ext cx="4540767" cy="367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32" indent="-183516" lvl="1">
              <a:lnSpc>
                <a:spcPts val="2992"/>
              </a:lnSpc>
              <a:buFont typeface="Arial"/>
              <a:buChar char="•"/>
            </a:pPr>
            <a:r>
              <a:rPr lang="en-US" sz="1700">
                <a:solidFill>
                  <a:srgbClr val="061C44"/>
                </a:solidFill>
                <a:latin typeface="Garet"/>
                <a:ea typeface="Garet"/>
                <a:cs typeface="Garet"/>
                <a:sym typeface="Garet"/>
              </a:rPr>
              <a:t>Le volume de clients est la cause principale de la chute, l'AOV restant intact.</a:t>
            </a:r>
          </a:p>
          <a:p>
            <a:pPr algn="l">
              <a:lnSpc>
                <a:spcPts val="2992"/>
              </a:lnSpc>
            </a:pPr>
          </a:p>
          <a:p>
            <a:pPr algn="l" marL="367032" indent="-183516" lvl="1">
              <a:lnSpc>
                <a:spcPts val="2992"/>
              </a:lnSpc>
              <a:buFont typeface="Arial"/>
              <a:buChar char="•"/>
            </a:pPr>
            <a:r>
              <a:rPr lang="en-US" sz="1700">
                <a:solidFill>
                  <a:srgbClr val="061C44"/>
                </a:solidFill>
                <a:latin typeface="Garet"/>
                <a:ea typeface="Garet"/>
                <a:cs typeface="Garet"/>
                <a:sym typeface="Garet"/>
              </a:rPr>
              <a:t>L'acquisition de nouveaux clients est inefficace dans ce contexte.</a:t>
            </a:r>
          </a:p>
          <a:p>
            <a:pPr algn="l">
              <a:lnSpc>
                <a:spcPts val="2992"/>
              </a:lnSpc>
            </a:pPr>
          </a:p>
          <a:p>
            <a:pPr algn="l" marL="367032" indent="-183516" lvl="1">
              <a:lnSpc>
                <a:spcPts val="2992"/>
              </a:lnSpc>
              <a:buFont typeface="Arial"/>
              <a:buChar char="•"/>
            </a:pPr>
            <a:r>
              <a:rPr lang="en-US" sz="1700">
                <a:solidFill>
                  <a:srgbClr val="061C44"/>
                </a:solidFill>
                <a:latin typeface="Garet"/>
                <a:ea typeface="Garet"/>
                <a:cs typeface="Garet"/>
                <a:sym typeface="Garet"/>
              </a:rPr>
              <a:t>Les marchés européens (hors France) sont dans une situation critique.</a:t>
            </a:r>
          </a:p>
          <a:p>
            <a:pPr algn="just" marL="0" indent="0" lvl="0">
              <a:lnSpc>
                <a:spcPts val="2992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6629487" y="2802232"/>
            <a:ext cx="5032786" cy="7057910"/>
            <a:chOff x="0" y="0"/>
            <a:chExt cx="1403481" cy="196822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03481" cy="1968223"/>
            </a:xfrm>
            <a:custGeom>
              <a:avLst/>
              <a:gdLst/>
              <a:ahLst/>
              <a:cxnLst/>
              <a:rect r="r" b="b" t="t" l="l"/>
              <a:pathLst>
                <a:path h="1968223" w="1403481">
                  <a:moveTo>
                    <a:pt x="30766" y="0"/>
                  </a:moveTo>
                  <a:lnTo>
                    <a:pt x="1372715" y="0"/>
                  </a:lnTo>
                  <a:cubicBezTo>
                    <a:pt x="1380875" y="0"/>
                    <a:pt x="1388701" y="3241"/>
                    <a:pt x="1394470" y="9011"/>
                  </a:cubicBezTo>
                  <a:cubicBezTo>
                    <a:pt x="1400240" y="14781"/>
                    <a:pt x="1403481" y="22606"/>
                    <a:pt x="1403481" y="30766"/>
                  </a:cubicBezTo>
                  <a:lnTo>
                    <a:pt x="1403481" y="1937457"/>
                  </a:lnTo>
                  <a:cubicBezTo>
                    <a:pt x="1403481" y="1945617"/>
                    <a:pt x="1400240" y="1953442"/>
                    <a:pt x="1394470" y="1959212"/>
                  </a:cubicBezTo>
                  <a:cubicBezTo>
                    <a:pt x="1388701" y="1964982"/>
                    <a:pt x="1380875" y="1968223"/>
                    <a:pt x="1372715" y="1968223"/>
                  </a:cubicBezTo>
                  <a:lnTo>
                    <a:pt x="30766" y="1968223"/>
                  </a:lnTo>
                  <a:cubicBezTo>
                    <a:pt x="22606" y="1968223"/>
                    <a:pt x="14781" y="1964982"/>
                    <a:pt x="9011" y="1959212"/>
                  </a:cubicBezTo>
                  <a:cubicBezTo>
                    <a:pt x="3241" y="1953442"/>
                    <a:pt x="0" y="1945617"/>
                    <a:pt x="0" y="1937457"/>
                  </a:cubicBezTo>
                  <a:lnTo>
                    <a:pt x="0" y="30766"/>
                  </a:lnTo>
                  <a:cubicBezTo>
                    <a:pt x="0" y="22606"/>
                    <a:pt x="3241" y="14781"/>
                    <a:pt x="9011" y="9011"/>
                  </a:cubicBezTo>
                  <a:cubicBezTo>
                    <a:pt x="14781" y="3241"/>
                    <a:pt x="22606" y="0"/>
                    <a:pt x="30766" y="0"/>
                  </a:cubicBezTo>
                  <a:close/>
                </a:path>
              </a:pathLst>
            </a:custGeom>
            <a:ln w="38100" cap="sq">
              <a:solidFill>
                <a:srgbClr val="FFD6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403481" cy="2006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216693" y="3172158"/>
            <a:ext cx="3750113" cy="460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0"/>
              </a:lnSpc>
            </a:pPr>
            <a:r>
              <a:rPr lang="en-US" b="true" sz="2768">
                <a:solidFill>
                  <a:srgbClr val="FFD600"/>
                </a:solidFill>
                <a:latin typeface="Garet Bold"/>
                <a:ea typeface="Garet Bold"/>
                <a:cs typeface="Garet Bold"/>
                <a:sym typeface="Garet Bold"/>
              </a:rPr>
              <a:t>Recommandations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226514" y="2862000"/>
            <a:ext cx="5032786" cy="6998142"/>
            <a:chOff x="0" y="0"/>
            <a:chExt cx="1403481" cy="19515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03481" cy="1951556"/>
            </a:xfrm>
            <a:custGeom>
              <a:avLst/>
              <a:gdLst/>
              <a:ahLst/>
              <a:cxnLst/>
              <a:rect r="r" b="b" t="t" l="l"/>
              <a:pathLst>
                <a:path h="1951556" w="1403481">
                  <a:moveTo>
                    <a:pt x="30766" y="0"/>
                  </a:moveTo>
                  <a:lnTo>
                    <a:pt x="1372715" y="0"/>
                  </a:lnTo>
                  <a:cubicBezTo>
                    <a:pt x="1380875" y="0"/>
                    <a:pt x="1388701" y="3241"/>
                    <a:pt x="1394470" y="9011"/>
                  </a:cubicBezTo>
                  <a:cubicBezTo>
                    <a:pt x="1400240" y="14781"/>
                    <a:pt x="1403481" y="22606"/>
                    <a:pt x="1403481" y="30766"/>
                  </a:cubicBezTo>
                  <a:lnTo>
                    <a:pt x="1403481" y="1920790"/>
                  </a:lnTo>
                  <a:cubicBezTo>
                    <a:pt x="1403481" y="1937782"/>
                    <a:pt x="1389707" y="1951556"/>
                    <a:pt x="1372715" y="1951556"/>
                  </a:cubicBezTo>
                  <a:lnTo>
                    <a:pt x="30766" y="1951556"/>
                  </a:lnTo>
                  <a:cubicBezTo>
                    <a:pt x="22606" y="1951556"/>
                    <a:pt x="14781" y="1948314"/>
                    <a:pt x="9011" y="1942545"/>
                  </a:cubicBezTo>
                  <a:cubicBezTo>
                    <a:pt x="3241" y="1936775"/>
                    <a:pt x="0" y="1928950"/>
                    <a:pt x="0" y="1920790"/>
                  </a:cubicBezTo>
                  <a:lnTo>
                    <a:pt x="0" y="30766"/>
                  </a:lnTo>
                  <a:cubicBezTo>
                    <a:pt x="0" y="22606"/>
                    <a:pt x="3241" y="14781"/>
                    <a:pt x="9011" y="9011"/>
                  </a:cubicBezTo>
                  <a:cubicBezTo>
                    <a:pt x="14781" y="3241"/>
                    <a:pt x="22606" y="0"/>
                    <a:pt x="30766" y="0"/>
                  </a:cubicBezTo>
                  <a:close/>
                </a:path>
              </a:pathLst>
            </a:custGeom>
            <a:solidFill>
              <a:srgbClr val="FFD6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03481" cy="1989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672019" y="3172158"/>
            <a:ext cx="4145440" cy="460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0"/>
              </a:lnSpc>
            </a:pPr>
            <a:r>
              <a:rPr lang="en-US" b="true" sz="2768">
                <a:solidFill>
                  <a:srgbClr val="061C44"/>
                </a:solidFill>
                <a:latin typeface="Garet Bold"/>
                <a:ea typeface="Garet Bold"/>
                <a:cs typeface="Garet Bold"/>
                <a:sym typeface="Garet Bold"/>
              </a:rPr>
              <a:t>Amélioration continue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75497" y="3880294"/>
            <a:ext cx="4540767" cy="5922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32" indent="-183516" lvl="1">
              <a:lnSpc>
                <a:spcPts val="2992"/>
              </a:lnSpc>
              <a:buFont typeface="Arial"/>
              <a:buChar char="•"/>
            </a:pPr>
            <a:r>
              <a:rPr lang="en-US" b="true" sz="170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Pivoter vers la Rétention </a:t>
            </a:r>
            <a:r>
              <a:rPr lang="en-US" sz="17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: Geler le budget d'acquisition (Ads) et réinvestir dans le Re-marketing / CRM pour cibler les clients fidèles (notamment aux US et en France).</a:t>
            </a:r>
          </a:p>
          <a:p>
            <a:pPr algn="l" marL="367032" indent="-183516" lvl="1">
              <a:lnSpc>
                <a:spcPts val="2992"/>
              </a:lnSpc>
              <a:buFont typeface="Arial"/>
              <a:buChar char="•"/>
            </a:pPr>
            <a:r>
              <a:rPr lang="en-US" b="true" sz="170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Tr</a:t>
            </a:r>
            <a:r>
              <a:rPr lang="en-US" b="true" sz="170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ansformation Digitale :</a:t>
            </a:r>
            <a:r>
              <a:rPr lang="en-US" sz="17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Pousser le canal E-commerce et le système BOPIS (Buy Online, Pick-up In Store) pour pallier la fermeture des magasins physiques.</a:t>
            </a:r>
          </a:p>
          <a:p>
            <a:pPr algn="l" marL="367032" indent="-183516" lvl="1">
              <a:lnSpc>
                <a:spcPts val="2992"/>
              </a:lnSpc>
              <a:buFont typeface="Arial"/>
              <a:buChar char="•"/>
            </a:pPr>
            <a:r>
              <a:rPr lang="en-US" b="true" sz="170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Rationalisation des stocks :</a:t>
            </a:r>
            <a:r>
              <a:rPr lang="en-US" sz="17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Stopper le réapprovisionnement des catégories "Audio" et "Gia dụng". Sécuriser les stocks des produits vitaux ("Computers" et "Cell phones").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74356" y="3880294"/>
            <a:ext cx="4540767" cy="256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32" indent="-183516" lvl="1">
              <a:lnSpc>
                <a:spcPts val="2992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Suivre mensuellement le taux de rétention par pays.</a:t>
            </a:r>
          </a:p>
          <a:p>
            <a:pPr algn="l">
              <a:lnSpc>
                <a:spcPts val="2992"/>
              </a:lnSpc>
            </a:pPr>
          </a:p>
          <a:p>
            <a:pPr algn="l" marL="367032" indent="-183516" lvl="1">
              <a:lnSpc>
                <a:spcPts val="2992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Évaluer la performance du canal Online vs In-store post-implémentation.</a:t>
            </a:r>
          </a:p>
          <a:p>
            <a:pPr algn="just" marL="0" indent="0" lvl="0">
              <a:lnSpc>
                <a:spcPts val="299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DAHM1cKgpIw</dc:identifier>
  <dcterms:modified xsi:type="dcterms:W3CDTF">2011-08-01T06:04:30Z</dcterms:modified>
  <cp:revision>1</cp:revision>
  <dc:title>By Thi Hong Nhung Nguyen</dc:title>
</cp:coreProperties>
</file>